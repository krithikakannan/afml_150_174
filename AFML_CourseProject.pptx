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01" r:id="rId3"/>
    <p:sldId id="258" r:id="rId4"/>
    <p:sldId id="290" r:id="rId5"/>
    <p:sldId id="291" r:id="rId6"/>
    <p:sldId id="292" r:id="rId7"/>
    <p:sldId id="293" r:id="rId8"/>
    <p:sldId id="294" r:id="rId9"/>
    <p:sldId id="296" r:id="rId10"/>
    <p:sldId id="295" r:id="rId11"/>
    <p:sldId id="297" r:id="rId12"/>
    <p:sldId id="299" r:id="rId13"/>
    <p:sldId id="300" r:id="rId14"/>
    <p:sldId id="284" r:id="rId15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r9t/zlH0+U33JGxe/pMkYlLIy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00" y="72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269998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6220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E8D973BD-312F-BF05-65C9-E7104D4E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024D2BFF-8D34-87D2-4CCA-00B6EC879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189D0FD4-036F-E0CC-EE6C-BFA0A047D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8548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6863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B832D377-4388-2BA8-0DE3-E9460B2F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5F5AE50B-011F-E077-A718-A49DEC0AF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23473D31-B19B-801E-8DCE-5EF67752A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6265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D6A6363E-96AF-5983-1BDC-02B1EE0E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13B905A7-5347-6E84-1101-346F5F901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ACE44ECB-D30A-EBD4-075E-4AD9FF1693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4470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9A19E0DA-03A4-173F-9F88-2F4EE181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A5F32EA0-652B-88C0-D169-74EDE25DC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9A205EAE-44AF-AB28-1985-1B7E2691A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4017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6FBE7DC0-BADD-0C47-3231-1F6E87C0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9A73C82B-96B1-3369-687C-658558A09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3CE0BF4F-530D-2975-D01B-4D127CBCA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8609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DEEF98A9-247C-5572-7ACC-B260F7AB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0A5793D0-F4E6-99AD-3C6E-340CF61F6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0CE24BE0-889E-9406-830C-4C95D5836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1849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0523994F-C7DF-BE7C-E0F8-A384A4C7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8C7ABDF6-7AAA-5FEB-07A9-1C403B9B8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EEAA6B12-D5AD-7173-CBD2-AC7FD3D68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369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313B1C37-67EB-9285-DF99-F847A786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0409A335-E73B-B76E-59C9-523FFC500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475786B8-928E-5EF2-88AB-DEDAE2C7A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3197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278B98FC-B266-728F-7852-DBB8B6B9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93BBCF11-1421-942F-C5DD-43C9EC0FA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D420C06D-B46A-EB14-2B5A-9059010E7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3579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340A0D10-8070-A24C-078B-BD3E4186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9789533F-1011-1693-F085-61A838D56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28262922-3AAD-7E36-04A9-38EE5CB29C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21483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xmlns="" id="{C7B937F9-890A-07F8-10E3-42EDF8E1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xmlns="" id="{4E3F450D-2A76-9670-7146-428BD52F4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xmlns="" id="{E6CD25F5-A23A-7DD5-2993-10CFAF102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2844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19" name="Google Shape;3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5218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/>
        </p:nvSpPr>
        <p:spPr>
          <a:xfrm>
            <a:off x="4114800" y="2317483"/>
            <a:ext cx="7497213" cy="167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Comprehensive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Comparative Study of Linear and Nonlinear Dimensionality Reduction Techniques</a:t>
            </a:r>
            <a:endParaRPr sz="3600" b="1" i="0" u="none" strike="noStrike" cap="none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 extrusionOk="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4783073" y="4112515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120000" extrusionOk="0">
                <a:moveTo>
                  <a:pt x="0" y="0"/>
                </a:moveTo>
                <a:lnTo>
                  <a:pt x="4581448" y="0"/>
                </a:lnTo>
              </a:path>
            </a:pathLst>
          </a:custGeom>
          <a:noFill/>
          <a:ln w="38100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4979" y="1606296"/>
            <a:ext cx="2369820" cy="354939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 extrusionOk="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80"/>
                </a:lnTo>
                <a:lnTo>
                  <a:pt x="1066800" y="1077480"/>
                </a:lnTo>
                <a:lnTo>
                  <a:pt x="1066800" y="45720"/>
                </a:lnTo>
                <a:lnTo>
                  <a:pt x="1066800" y="10680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2;p1">
            <a:extLst>
              <a:ext uri="{FF2B5EF4-FFF2-40B4-BE49-F238E27FC236}">
                <a16:creationId xmlns:a16="http://schemas.microsoft.com/office/drawing/2014/main" xmlns="" id="{D0343AAB-DD93-C3D1-54CE-50720CB562AF}"/>
              </a:ext>
            </a:extLst>
          </p:cNvPr>
          <p:cNvSpPr/>
          <p:nvPr/>
        </p:nvSpPr>
        <p:spPr>
          <a:xfrm>
            <a:off x="4781916" y="4461847"/>
            <a:ext cx="749721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 1  </a:t>
            </a:r>
            <a:r>
              <a:rPr lang="en-IN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KRITHIKA.K , PES1UG23AM150</a:t>
            </a:r>
            <a:r>
              <a:rPr lang="en-IN" sz="2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IN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 2 </a:t>
            </a:r>
            <a:r>
              <a:rPr lang="en-IN" sz="20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MONIKA  , PES1UG23AM174</a:t>
            </a:r>
            <a:endParaRPr lang="en-IN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9;p1">
            <a:extLst>
              <a:ext uri="{FF2B5EF4-FFF2-40B4-BE49-F238E27FC236}">
                <a16:creationId xmlns:a16="http://schemas.microsoft.com/office/drawing/2014/main" xmlns="" id="{E4CC22FB-453C-4823-29A6-1004DCC31E13}"/>
              </a:ext>
            </a:extLst>
          </p:cNvPr>
          <p:cNvSpPr/>
          <p:nvPr/>
        </p:nvSpPr>
        <p:spPr>
          <a:xfrm>
            <a:off x="4114799" y="667203"/>
            <a:ext cx="749721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Advanced Foundations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Machine Learning Course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96F66C97-A123-16D9-3675-51953D65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0D953A79-E8E5-1574-4D09-11AC985783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35B49E40-DFE4-C76B-04A8-9485B5C6CDF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0C333222-57A3-F5A5-1774-C5449A71473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00A8410D-5C53-855F-2C34-6C72A040B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Submission Checklist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8CC78F10-45E7-6395-FC2F-020A9D561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118160"/>
              </p:ext>
            </p:extLst>
          </p:nvPr>
        </p:nvGraphicFramePr>
        <p:xfrm>
          <a:off x="422687" y="1653702"/>
          <a:ext cx="10981305" cy="38741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xmlns="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xmlns="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xmlns="" val="3029278379"/>
                    </a:ext>
                  </a:extLst>
                </a:gridCol>
              </a:tblGrid>
              <a:tr h="932568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Drive Shared ( Y/N)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notebook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Dataset or dataset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This PPT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5 mins Video presenting your paper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Brief Project Report in IEEE Format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261402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F66DE3D-B9B0-5802-D719-2C6CC78F83AF}"/>
              </a:ext>
            </a:extLst>
          </p:cNvPr>
          <p:cNvSpPr txBox="1"/>
          <p:nvPr/>
        </p:nvSpPr>
        <p:spPr>
          <a:xfrm>
            <a:off x="393111" y="6046627"/>
            <a:ext cx="73741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Note:</a:t>
            </a:r>
            <a:r>
              <a:rPr lang="en-IN" dirty="0"/>
              <a:t> Mention the </a:t>
            </a:r>
            <a:r>
              <a:rPr lang="en-IN" b="1" dirty="0"/>
              <a:t>email-ids</a:t>
            </a:r>
            <a:r>
              <a:rPr lang="en-IN" dirty="0"/>
              <a:t> you shared the drive with ( your course TAs and your faculty) </a:t>
            </a:r>
            <a:endParaRPr lang="en-IN" dirty="0" smtClean="0"/>
          </a:p>
          <a:p>
            <a:r>
              <a:rPr lang="en-IN" dirty="0"/>
              <a:t>k</a:t>
            </a:r>
            <a:r>
              <a:rPr lang="en-IN" dirty="0" smtClean="0"/>
              <a:t>rithika.kiki0123@gmail.com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66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422687" y="2270493"/>
            <a:ext cx="10252683" cy="2166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3560" marR="119379" lvl="0" indent="-455294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your problem statement </a:t>
            </a:r>
            <a:r>
              <a:rPr lang="en-IN" sz="2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crisply</a:t>
            </a:r>
          </a:p>
          <a:p>
            <a:pPr marL="88266" marR="119379" lvl="0" algn="just">
              <a:buSzPts val="2800"/>
            </a:pPr>
            <a:r>
              <a:rPr lang="en-US" sz="2800" dirty="0"/>
              <a:t>To study how different dimensionality reduction (DR) techniques behave on text, time-series, genomic, speech, and graph datasets, and determine which methods preserve structure best for visualization and classification.</a:t>
            </a:r>
            <a:r>
              <a:rPr lang="en-IN" sz="2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6600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D013FFEC-E891-3EDF-F0DA-71F1331D198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35085630-386F-E457-D5C1-6098744789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Problem Statement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ABA7AC88-1880-9D8A-4335-B759DFCD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702CBD9C-3D2A-A1F2-7C5F-B49EFDB319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35512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B4DCDD19-53C3-87CE-748C-05EFC6C7A897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85D3FEDD-A6E1-092E-5F12-CD01AB1A54E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504DE4BB-AB6C-616F-CDF7-48938B17D4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Uniqueness</a:t>
            </a:r>
            <a:endParaRPr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4117" y="2329519"/>
            <a:ext cx="1208215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compare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balanced set of linear and nonlinear DR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(PCA, NMF, ICA,LDA t-SNE,UMAP,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covers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five diverse data modalities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text, time-series, genomic,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audio (MFCC), and graph.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how DR performance changes </a:t>
            </a:r>
            <a:r>
              <a:rPr kumimoji="0" lang="en-US" altLang="en-US" sz="2800" b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dataset structure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just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dimensionality.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good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pipeline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visualization quality and classification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practical insights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which DR methods work best for each modality.</a:t>
            </a:r>
          </a:p>
        </p:txBody>
      </p:sp>
    </p:spTree>
    <p:extLst>
      <p:ext uri="{BB962C8B-B14F-4D97-AF65-F5344CB8AC3E}">
        <p14:creationId xmlns:p14="http://schemas.microsoft.com/office/powerpoint/2010/main" val="199028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F9FFD4AB-2AD2-12F6-E85B-93971A82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xmlns="" id="{79991763-9613-3510-8048-7F68DE17CE11}"/>
              </a:ext>
            </a:extLst>
          </p:cNvPr>
          <p:cNvSpPr txBox="1"/>
          <p:nvPr/>
        </p:nvSpPr>
        <p:spPr>
          <a:xfrm>
            <a:off x="292100" y="1564640"/>
            <a:ext cx="10252683" cy="443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88266" marR="119379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r>
              <a:rPr lang="en-IN" sz="2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28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D0E528B6-696B-2650-3333-9EC22089D2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4096" y="16560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34D9B295-86C2-6340-33EA-B4352902F3C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E0522782-DA93-B7F1-B867-AB6F822D546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65BA688B-29D9-1AF4-8378-FE693318A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Dataset </a:t>
            </a: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6321"/>
              </p:ext>
            </p:extLst>
          </p:nvPr>
        </p:nvGraphicFramePr>
        <p:xfrm>
          <a:off x="584848" y="1921085"/>
          <a:ext cx="10509248" cy="4491760"/>
        </p:xfrm>
        <a:graphic>
          <a:graphicData uri="http://schemas.openxmlformats.org/drawingml/2006/table">
            <a:tbl>
              <a:tblPr/>
              <a:tblGrid>
                <a:gridCol w="2627312"/>
                <a:gridCol w="2627312"/>
                <a:gridCol w="2627312"/>
                <a:gridCol w="2627312"/>
              </a:tblGrid>
              <a:tr h="703840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Modality</a:t>
                      </a:r>
                      <a:endParaRPr lang="en-IN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Size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  <a:endParaRPr lang="en-IN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3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 Newsgroups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18,000 docs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Scikit</a:t>
                      </a:r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-learn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3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UCI 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Time-series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10,299 samples, 561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https://archive.ics.uci.edu/static/public/240/human+activity+recognition+using+smartphones.zip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3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PBMC 3k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Genomic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2700</a:t>
                      </a:r>
                      <a:r>
                        <a:rPr lang="en-IN" sz="14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cells , 32738 genes 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sc.datasets.pbmc3k()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3840">
                <a:tc>
                  <a:txBody>
                    <a:bodyPr/>
                    <a:lstStyle/>
                    <a:p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Speech Commands (MFCC)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2000 audio</a:t>
                      </a:r>
                      <a:r>
                        <a:rPr lang="en-IN" sz="1400" b="0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files</a:t>
                      </a:r>
                      <a:r>
                        <a:rPr lang="en-IN" sz="14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,20 MFCC features ,10 target classes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speech_commands_v0.02.tar.gz</a:t>
                      </a:r>
                      <a:endParaRPr lang="en-IN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03840">
                <a:tc>
                  <a:txBody>
                    <a:bodyPr/>
                    <a:lstStyle/>
                    <a:p>
                      <a:r>
                        <a:rPr lang="en-IN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Graph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2,708 nodes, 1,433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Cora</a:t>
                      </a:r>
                      <a:r>
                        <a:rPr lang="en-IN" sz="14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N" sz="14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Dataset/</a:t>
                      </a:r>
                      <a:r>
                        <a:rPr lang="en-IN" sz="14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 Planetoid(root="data/Planetoid", name="Cora")</a:t>
                      </a:r>
                    </a:p>
                    <a:p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840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0CACF7F8-A546-F433-DAB3-6A7DF104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xmlns="" id="{361CCE45-74DF-9D29-D72C-5166AA1816EE}"/>
              </a:ext>
            </a:extLst>
          </p:cNvPr>
          <p:cNvSpPr txBox="1"/>
          <p:nvPr/>
        </p:nvSpPr>
        <p:spPr>
          <a:xfrm>
            <a:off x="277815" y="1753448"/>
            <a:ext cx="11762724" cy="438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Data Collection &amp; Preparation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 datasets—text, audio, time-series, genomic, and graph—were cleaned, normalized, and split into training and testing sets.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Baseline Modeling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applying dimensionality reduction, three classifiers (Logistic Regression, Linear SVM, and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were trained on the original high-dimensional data to establish baseline performance.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Application of Linear DR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Methods like PCA, ICA, and NMF were used to compress features into lower-dimensional representations while preserving variance or independent structure.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Application of Nonlinear DR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UMAP, t-SNE, and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were applied to capture nonlinear patterns and visualize data structure in 2D/3D.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Classification After DR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reduced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were fed back into the same classifiers, and performance changes were recorded to measure the impact of DR.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Visualization and Analysis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2D/3D plots from PCA, UMAP, and t-SNE were inspected to analyze cluster separation and structure preservation.</a:t>
            </a:r>
          </a:p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Comparison Across Datasets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were compared to understand which DR methods work best for each data type and which provide the most effective trade-off between accuracy, efficiency, and visualization quality.</a:t>
            </a:r>
          </a:p>
          <a:p>
            <a:pPr marL="342891" algn="just" eaLnBrk="0" hangingPunct="0">
              <a:defRPr/>
            </a:pPr>
            <a:endParaRPr lang="en-US" sz="1200" dirty="0">
              <a:solidFill>
                <a:srgbClr val="0033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rebuchet MS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F1045981-9E7B-0346-29CE-C9B395042E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6328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93B75A02-2C41-638D-481F-7B4BA77A2339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7EC55C4B-DD52-B0F6-9316-0767438D10E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79B29ED5-0349-36D3-6119-19832AED69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Overall Design or Approach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116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156F444D-98EF-5528-6FBA-A01C2585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826752FB-D694-10A0-1FAB-8C40C4A907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5239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79F60E43-44F7-8816-4C34-0AF90A8DD43A}"/>
              </a:ext>
            </a:extLst>
          </p:cNvPr>
          <p:cNvSpPr/>
          <p:nvPr/>
        </p:nvSpPr>
        <p:spPr>
          <a:xfrm>
            <a:off x="276357" y="888645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2AE59C79-5917-D4CC-85F9-3E9FDD281624}"/>
              </a:ext>
            </a:extLst>
          </p:cNvPr>
          <p:cNvSpPr/>
          <p:nvPr/>
        </p:nvSpPr>
        <p:spPr>
          <a:xfrm>
            <a:off x="422687" y="6627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E08C3EA7-99CE-80C7-F4F6-2B3802144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8874" y="382282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Final Results</a:t>
            </a: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427041"/>
              </p:ext>
            </p:extLst>
          </p:nvPr>
        </p:nvGraphicFramePr>
        <p:xfrm>
          <a:off x="163817" y="934959"/>
          <a:ext cx="10509248" cy="2255520"/>
        </p:xfrm>
        <a:graphic>
          <a:graphicData uri="http://schemas.openxmlformats.org/drawingml/2006/table">
            <a:tbl>
              <a:tblPr/>
              <a:tblGrid>
                <a:gridCol w="2627312"/>
                <a:gridCol w="2627312"/>
                <a:gridCol w="2627312"/>
                <a:gridCol w="2627312"/>
              </a:tblGrid>
              <a:tr h="304800">
                <a:tc>
                  <a:txBody>
                    <a:bodyPr/>
                    <a:lstStyle/>
                    <a:p>
                      <a:r>
                        <a:rPr lang="en-IN" sz="1400" b="1" dirty="0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Best DR for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Best DR for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 b="1"/>
                        <a:t>Text (20NG)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PCA (100 comps)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t-SNE / UMAP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UMAP poor for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IN" sz="1400" b="1"/>
                        <a:t>Audio (MFCC)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Autoencoder (20 bottleneck)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t-SNE / UMAP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MFCC already low-dimensional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 b="1"/>
                        <a:t>Time-Series (HAR)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Autoencoder (50)</a:t>
                      </a:r>
                      <a:r>
                        <a:rPr lang="en-IN" sz="1400"/>
                        <a:t> &amp; PCA(50)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UMAP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accuracy even after DR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IN" sz="1400" b="1"/>
                        <a:t>Genomic (PBMC 3k)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— (Clustering task)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UMAP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Best separation 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lang="en-IN" sz="1400" b="1" dirty="0"/>
                        <a:t>Graph (Cora)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— (GCN baseline best)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Laplacian Eigenmaps / UMAP</a:t>
                      </a:r>
                      <a:endParaRPr lang="en-IN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Node2Vec poor for </a:t>
                      </a:r>
                      <a:r>
                        <a:rPr lang="en-IN" sz="1400" dirty="0" smtClean="0"/>
                        <a:t>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3817" y="3190479"/>
            <a:ext cx="1176229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/>
              <a:t>Top </a:t>
            </a:r>
            <a:r>
              <a:rPr lang="en-IN" b="1" dirty="0"/>
              <a:t>Performing DR Method Per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Text:</a:t>
            </a:r>
            <a:r>
              <a:rPr lang="en-IN" dirty="0"/>
              <a:t> 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Audio:</a:t>
            </a:r>
            <a:r>
              <a:rPr lang="en-IN" dirty="0"/>
              <a:t> </a:t>
            </a:r>
            <a:r>
              <a:rPr lang="en-IN" dirty="0" err="1"/>
              <a:t>Autoencoder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Time-Series:</a:t>
            </a:r>
            <a:r>
              <a:rPr lang="en-IN" dirty="0"/>
              <a:t> </a:t>
            </a:r>
            <a:r>
              <a:rPr lang="en-IN" dirty="0" err="1"/>
              <a:t>Autoencoder</a:t>
            </a:r>
            <a:r>
              <a:rPr lang="en-IN" dirty="0"/>
              <a:t>/PCA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Genomic:</a:t>
            </a:r>
            <a:r>
              <a:rPr lang="en-IN" dirty="0"/>
              <a:t> UMAP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Graph:</a:t>
            </a:r>
            <a:r>
              <a:rPr lang="en-IN" dirty="0"/>
              <a:t> Laplacian </a:t>
            </a:r>
            <a:r>
              <a:rPr lang="en-IN" dirty="0" err="1" smtClean="0"/>
              <a:t>Eigenmaps</a:t>
            </a:r>
            <a:endParaRPr lang="en-IN" dirty="0" smtClean="0"/>
          </a:p>
          <a:p>
            <a:endParaRPr lang="en-IN" dirty="0"/>
          </a:p>
          <a:p>
            <a:r>
              <a:rPr lang="en-IN" b="1" dirty="0"/>
              <a:t>What We Found Across All 5 Datasets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Best Overall Linear DR:</a:t>
            </a:r>
            <a:r>
              <a:rPr lang="en-IN" dirty="0"/>
              <a:t> 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Best Overall Nonlinear DR:</a:t>
            </a:r>
            <a:r>
              <a:rPr lang="en-IN" dirty="0"/>
              <a:t> </a:t>
            </a:r>
            <a:r>
              <a:rPr lang="en-IN" dirty="0" err="1"/>
              <a:t>Autoencoder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Best Visualization:</a:t>
            </a:r>
            <a:r>
              <a:rPr lang="en-IN" dirty="0"/>
              <a:t> UMAP &amp; t-SNE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Most Stable Classifier:</a:t>
            </a:r>
            <a:r>
              <a:rPr lang="en-IN" dirty="0"/>
              <a:t> 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Most Sensitive Classifier:</a:t>
            </a:r>
            <a:r>
              <a:rPr lang="en-IN" dirty="0"/>
              <a:t> </a:t>
            </a:r>
            <a:r>
              <a:rPr lang="en-IN" dirty="0" err="1"/>
              <a:t>kNN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Graph Best Method:</a:t>
            </a:r>
            <a:r>
              <a:rPr lang="en-IN" dirty="0"/>
              <a:t> GCN (baseline) and Laplacian </a:t>
            </a:r>
            <a:r>
              <a:rPr lang="en-IN" dirty="0" err="1"/>
              <a:t>Eigenmaps</a:t>
            </a:r>
            <a:r>
              <a:rPr lang="en-IN" dirty="0"/>
              <a:t> (visualization)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Genomic Best Method:</a:t>
            </a:r>
            <a:r>
              <a:rPr lang="en-IN" dirty="0"/>
              <a:t> UMA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316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25ED29E1-7F97-3743-6432-730899D4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A4B8854A-06C7-CD7F-ADCA-DE649E5E43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63034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8FFD2902-0F0E-0141-DD58-44978C3C947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59724F00-ABB5-2DED-169E-A35FE757A46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1B8B40EF-CE1D-E89D-40DE-0E7C616B4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Done vs. Remaining to be done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D4940E85-F47A-D502-B749-0A7C824D0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944726"/>
              </p:ext>
            </p:extLst>
          </p:nvPr>
        </p:nvGraphicFramePr>
        <p:xfrm>
          <a:off x="422687" y="1997963"/>
          <a:ext cx="10981305" cy="36425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xmlns="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xmlns="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xmlns="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 or To be Done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Dataset selection (5 modalities), ,</a:t>
                      </a:r>
                      <a:r>
                        <a:rPr lang="en-US" sz="2000" dirty="0" smtClean="0"/>
                        <a:t>Implementation o DR methods , </a:t>
                      </a:r>
                      <a:r>
                        <a:rPr lang="en-IN" sz="2000" dirty="0" smtClean="0"/>
                        <a:t>Metrics collection.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DONE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err="1" smtClean="0"/>
                        <a:t>Preprocessing</a:t>
                      </a:r>
                      <a:r>
                        <a:rPr lang="en-IN" sz="2000" dirty="0" smtClean="0"/>
                        <a:t> pipelines, Visualizations for all datasets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DONE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Draft IEEE paper, Classification models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DONE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Final integration into GitHub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TO BE DONE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Final IEEE formatting , 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TO BE DONE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719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A00A384D-4A29-FE2F-9ED1-A0674405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C8221108-3C46-1BDC-AFA1-A811217E25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48D7660F-1C23-D554-0A1B-95F4BCB1580E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ABAE4D7E-E300-E8AC-0359-8E70DA9CB34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89E26273-B356-6D8D-C3FF-0EE6E3E41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Who did what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D344D2F6-CA64-8510-4AA5-6E7A59A23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844879"/>
              </p:ext>
            </p:extLst>
          </p:nvPr>
        </p:nvGraphicFramePr>
        <p:xfrm>
          <a:off x="422687" y="1997963"/>
          <a:ext cx="10981305" cy="40950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xmlns="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xmlns="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xmlns="" val="3029278379"/>
                    </a:ext>
                  </a:extLst>
                </a:gridCol>
              </a:tblGrid>
              <a:tr h="86417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Contributed By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0830152"/>
                  </a:ext>
                </a:extLst>
              </a:tr>
              <a:tr h="1477500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Implemented PCA and ICA; worked on UCI HAR and Speech MFCC datasets; performed classification experiments (LR, SVM, </a:t>
                      </a:r>
                      <a:r>
                        <a:rPr lang="en-IN" sz="2000" dirty="0" err="1" smtClean="0"/>
                        <a:t>kNN</a:t>
                      </a:r>
                      <a:r>
                        <a:rPr lang="en-IN" sz="2000" dirty="0" smtClean="0"/>
                        <a:t>); created PCA visualizations; contributed to methodology writing, workflow explanation.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MOINIKA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9385254"/>
                  </a:ext>
                </a:extLst>
              </a:tr>
              <a:tr h="1477500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Implemented UMAP, t-SNE, and </a:t>
                      </a:r>
                      <a:r>
                        <a:rPr lang="en-IN" sz="2000" dirty="0" err="1" smtClean="0"/>
                        <a:t>Autoencoder</a:t>
                      </a:r>
                      <a:r>
                        <a:rPr lang="en-IN" sz="2000" dirty="0" smtClean="0"/>
                        <a:t>; worked on PBMC 3k, 20 Newsgroups, and Cora graph dataset; generated nonlinear visualizations; performed clustering metric evaluations; contributed to results writing</a:t>
                      </a:r>
                      <a:r>
                        <a:rPr lang="en-IN" sz="2000" baseline="0" dirty="0" smtClean="0"/>
                        <a:t> , evaluation metrics , conclusion 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KRITHIKA.K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8583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367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10B208BD-A2EA-1D2E-569F-05C92B1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C38D4768-734E-4568-6F4F-F254DFAA0B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4" y="1"/>
            <a:ext cx="664140" cy="101181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2CFE7EFE-4948-17F2-AB9F-CEDDFA7F35CF}"/>
              </a:ext>
            </a:extLst>
          </p:cNvPr>
          <p:cNvSpPr/>
          <p:nvPr/>
        </p:nvSpPr>
        <p:spPr>
          <a:xfrm>
            <a:off x="166708" y="973716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CCD8FA1A-2C3A-C2D3-126B-33BC5C6C51FB}"/>
              </a:ext>
            </a:extLst>
          </p:cNvPr>
          <p:cNvSpPr/>
          <p:nvPr/>
        </p:nvSpPr>
        <p:spPr>
          <a:xfrm>
            <a:off x="397943" y="3794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5A083361-555A-F108-BBA0-4B3F49BF2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943" y="434426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Quantity and Quality of Work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40FFF1C5-C58E-EE62-06C8-8126A3A7D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94891"/>
              </p:ext>
            </p:extLst>
          </p:nvPr>
        </p:nvGraphicFramePr>
        <p:xfrm>
          <a:off x="71335" y="1074162"/>
          <a:ext cx="12120665" cy="5442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477">
                  <a:extLst>
                    <a:ext uri="{9D8B030D-6E8A-4147-A177-3AD203B41FA5}">
                      <a16:colId xmlns:a16="http://schemas.microsoft.com/office/drawing/2014/main" xmlns="" val="2897803363"/>
                    </a:ext>
                  </a:extLst>
                </a:gridCol>
                <a:gridCol w="4280170">
                  <a:extLst>
                    <a:ext uri="{9D8B030D-6E8A-4147-A177-3AD203B41FA5}">
                      <a16:colId xmlns:a16="http://schemas.microsoft.com/office/drawing/2014/main" xmlns="" val="3715099944"/>
                    </a:ext>
                  </a:extLst>
                </a:gridCol>
                <a:gridCol w="2437752">
                  <a:extLst>
                    <a:ext uri="{9D8B030D-6E8A-4147-A177-3AD203B41FA5}">
                      <a16:colId xmlns:a16="http://schemas.microsoft.com/office/drawing/2014/main" xmlns="" val="893068887"/>
                    </a:ext>
                  </a:extLst>
                </a:gridCol>
                <a:gridCol w="2424133">
                  <a:extLst>
                    <a:ext uri="{9D8B030D-6E8A-4147-A177-3AD203B41FA5}">
                      <a16:colId xmlns:a16="http://schemas.microsoft.com/office/drawing/2014/main" xmlns="" val="4267769587"/>
                    </a:ext>
                  </a:extLst>
                </a:gridCol>
                <a:gridCol w="2424133">
                  <a:extLst>
                    <a:ext uri="{9D8B030D-6E8A-4147-A177-3AD203B41FA5}">
                      <a16:colId xmlns:a16="http://schemas.microsoft.com/office/drawing/2014/main" xmlns="" val="885006999"/>
                    </a:ext>
                  </a:extLst>
                </a:gridCol>
              </a:tblGrid>
              <a:tr h="718660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Functionality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Runs w/o Issues ( Y /N)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State minor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53531006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1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All DR methods run end-to-end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none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9972334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 smtClean="0"/>
                        <a:t>Classification </a:t>
                      </a:r>
                      <a:r>
                        <a:rPr lang="fr-FR" sz="2000" dirty="0" err="1" smtClean="0"/>
                        <a:t>models</a:t>
                      </a:r>
                      <a:r>
                        <a:rPr lang="fr-FR" sz="2000" dirty="0" smtClean="0"/>
                        <a:t> (LR, SVM, </a:t>
                      </a:r>
                      <a:r>
                        <a:rPr lang="fr-FR" sz="2000" dirty="0" err="1" smtClean="0"/>
                        <a:t>kNN</a:t>
                      </a:r>
                      <a:r>
                        <a:rPr lang="fr-FR" sz="2000" dirty="0" smtClean="0"/>
                        <a:t>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None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86622078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Dataset loading, </a:t>
                      </a:r>
                      <a:r>
                        <a:rPr lang="en-IN" sz="2000" dirty="0" err="1" smtClean="0"/>
                        <a:t>preprocessing</a:t>
                      </a:r>
                      <a:r>
                        <a:rPr lang="en-IN" sz="2000" dirty="0" smtClean="0"/>
                        <a:t>, splitting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None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85884201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Visualization scripts (PCA, UMAP, t-SNE)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Occasional slow runtime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34111770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err="1" smtClean="0"/>
                        <a:t>Autoencoder</a:t>
                      </a:r>
                      <a:r>
                        <a:rPr lang="en-IN" sz="2000" dirty="0" smtClean="0"/>
                        <a:t> training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95%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Minor training warnings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62903321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Graph DR (Node2Vec, Laplacian </a:t>
                      </a:r>
                      <a:r>
                        <a:rPr lang="en-IN" sz="2000" dirty="0" err="1" smtClean="0"/>
                        <a:t>Eigenmaps</a:t>
                      </a:r>
                      <a:r>
                        <a:rPr lang="en-IN" sz="2000" dirty="0" smtClean="0"/>
                        <a:t>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90%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Node2Vec accuracy lower 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58927893"/>
                  </a:ext>
                </a:extLst>
              </a:tr>
              <a:tr h="517785"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Report writing, results summarization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100%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yes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none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77082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600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ACEF127C-5D96-6FDF-0824-AC0C2020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119434A6-F465-C405-A9EE-24E3520BB2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C37E285E-376C-660E-1F1D-09B4227A20DF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F4C073CD-1A01-6D50-2B55-8DFEA4B876B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68C10F9B-D2D8-FCE9-636F-B0D5D9607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Top Few Learnings from this Project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649AF4B5-CC14-3FA1-9514-1FBFDA9B5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658275"/>
              </p:ext>
            </p:extLst>
          </p:nvPr>
        </p:nvGraphicFramePr>
        <p:xfrm>
          <a:off x="422687" y="1997963"/>
          <a:ext cx="11104590" cy="358161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819">
                  <a:extLst>
                    <a:ext uri="{9D8B030D-6E8A-4147-A177-3AD203B41FA5}">
                      <a16:colId xmlns:a16="http://schemas.microsoft.com/office/drawing/2014/main" xmlns="" val="3172163919"/>
                    </a:ext>
                  </a:extLst>
                </a:gridCol>
                <a:gridCol w="9907771">
                  <a:extLst>
                    <a:ext uri="{9D8B030D-6E8A-4147-A177-3AD203B41FA5}">
                      <a16:colId xmlns:a16="http://schemas.microsoft.com/office/drawing/2014/main" xmlns="" val="4244383531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Different data modalities require different DR approaches.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Graph datasets needs</a:t>
                      </a:r>
                      <a:r>
                        <a:rPr lang="en-IN" sz="2000" baseline="0" dirty="0" smtClean="0"/>
                        <a:t> Graph based Dimensional Reduction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PCA keeps global structure; UMAP/t-SNE preserve local neighborhoods.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Nonlinear methods (t-SNE, UMAP) preserve structure better but are slower.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DR can improve or degrade classification depending on whether the process removes noise or inadvertently eliminates important signal for the specific task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370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7C5193A5-CC78-5F29-7C7A-66D3E430E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FA30D013-35C3-C234-BED6-6499675544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38398FD0-96D5-CF0E-32E6-919FE6B33DFC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50AC2E5D-E9DB-FE9F-AA7D-A41F7D2AB09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15BBCC29-A208-4352-BADA-2DB6C5861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Top Unresolved Challenges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9312385C-DCB4-AC12-0935-6C4F18E91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32510"/>
              </p:ext>
            </p:extLst>
          </p:nvPr>
        </p:nvGraphicFramePr>
        <p:xfrm>
          <a:off x="422687" y="1997963"/>
          <a:ext cx="11104590" cy="398077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819">
                  <a:extLst>
                    <a:ext uri="{9D8B030D-6E8A-4147-A177-3AD203B41FA5}">
                      <a16:colId xmlns:a16="http://schemas.microsoft.com/office/drawing/2014/main" xmlns="" val="3172163919"/>
                    </a:ext>
                  </a:extLst>
                </a:gridCol>
                <a:gridCol w="9907771">
                  <a:extLst>
                    <a:ext uri="{9D8B030D-6E8A-4147-A177-3AD203B41FA5}">
                      <a16:colId xmlns:a16="http://schemas.microsoft.com/office/drawing/2014/main" xmlns="" val="4244383531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Nonlinear methods like t-SNE and UMAP can be computationally expensive for high-dimensional, large-scale datasets.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Preservation of Global vs Local Structure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Selection of </a:t>
                      </a:r>
                      <a:r>
                        <a:rPr lang="en-IN" sz="2000" dirty="0" err="1" smtClean="0"/>
                        <a:t>Hyperparameters</a:t>
                      </a:r>
                      <a:r>
                        <a:rPr lang="en-IN" sz="2000" dirty="0" smtClean="0"/>
                        <a:t>:</a:t>
                      </a:r>
                      <a:r>
                        <a:rPr lang="en-US" sz="2000" dirty="0" smtClean="0"/>
                        <a:t>Nonlinear DR techniques require careful tuning (perplexity in t-SNE, </a:t>
                      </a:r>
                      <a:r>
                        <a:rPr lang="en-US" sz="2000" dirty="0" err="1" smtClean="0"/>
                        <a:t>n_neighbors</a:t>
                      </a:r>
                      <a:r>
                        <a:rPr lang="en-US" sz="2000" dirty="0" smtClean="0"/>
                        <a:t> in UMAP) which can significantly affect results.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Interpretability of Nonlinear </a:t>
                      </a:r>
                      <a:r>
                        <a:rPr lang="en-IN" sz="2000" dirty="0" err="1" smtClean="0"/>
                        <a:t>Embeddings</a:t>
                      </a:r>
                      <a:r>
                        <a:rPr lang="en-IN" sz="2000" dirty="0" smtClean="0"/>
                        <a:t>: </a:t>
                      </a:r>
                      <a:r>
                        <a:rPr lang="en-US" sz="2000" dirty="0" smtClean="0"/>
                        <a:t>Linear methods (PCA, LDA) are easier to interpret; nonlinear methods often produce </a:t>
                      </a:r>
                      <a:r>
                        <a:rPr lang="en-US" sz="2000" dirty="0" err="1" smtClean="0"/>
                        <a:t>embeddings</a:t>
                      </a:r>
                      <a:r>
                        <a:rPr lang="en-US" sz="2000" dirty="0" smtClean="0"/>
                        <a:t> that are harder to explain.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Reduced dimensionality may improve visualization but not always improve classifier performance; evaluating generalizability is a challenge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397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xmlns="" id="{0C48A601-BD1B-2FC6-6D4E-6013B647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xmlns="" id="{C3720601-0D54-E16F-1F58-492B181F50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xmlns="" id="{CB1E558E-7C2F-69F6-D632-A187019E871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xmlns="" id="{95E62858-51D2-BFAF-9BCA-0883DE413CD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xmlns="" id="{C2750D0C-4893-9DF5-E491-EB010FB38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References, if any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22AD55FC-0E32-C06C-130A-6F1823F8A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22833"/>
              </p:ext>
            </p:extLst>
          </p:nvPr>
        </p:nvGraphicFramePr>
        <p:xfrm>
          <a:off x="422687" y="1997963"/>
          <a:ext cx="10981305" cy="394860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xmlns="" val="3172163919"/>
                    </a:ext>
                  </a:extLst>
                </a:gridCol>
                <a:gridCol w="6473143">
                  <a:extLst>
                    <a:ext uri="{9D8B030D-6E8A-4147-A177-3AD203B41FA5}">
                      <a16:colId xmlns:a16="http://schemas.microsoft.com/office/drawing/2014/main" xmlns="" val="4244383531"/>
                    </a:ext>
                  </a:extLst>
                </a:gridCol>
                <a:gridCol w="3719141">
                  <a:extLst>
                    <a:ext uri="{9D8B030D-6E8A-4147-A177-3AD203B41FA5}">
                      <a16:colId xmlns:a16="http://schemas.microsoft.com/office/drawing/2014/main" xmlns="" val="3029278379"/>
                    </a:ext>
                  </a:extLst>
                </a:gridCol>
              </a:tblGrid>
              <a:tr h="919963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Year of 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70830152"/>
                  </a:ext>
                </a:extLst>
              </a:tr>
              <a:tr h="919963">
                <a:tc>
                  <a:txBody>
                    <a:bodyPr/>
                    <a:lstStyle/>
                    <a:p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Adaptive Latent Feature Sharing for Piecewise Linear Dimensionality Reduction – ACM</a:t>
                      </a:r>
                      <a:endParaRPr lang="en-IN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         2024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9385254"/>
                  </a:ext>
                </a:extLst>
              </a:tr>
              <a:tr h="919963">
                <a:tc>
                  <a:txBody>
                    <a:bodyPr/>
                    <a:lstStyle/>
                    <a:p>
                      <a:r>
                        <a:rPr lang="en-IN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Performance evaluation of nonlinear techniques UMAP and t-SNE -IEEE</a:t>
                      </a:r>
                      <a:endParaRPr lang="en-IN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          2020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8583575"/>
                  </a:ext>
                </a:extLst>
              </a:tr>
              <a:tr h="1000923">
                <a:tc>
                  <a:txBody>
                    <a:bodyPr/>
                    <a:lstStyle/>
                    <a:p>
                      <a:r>
                        <a:rPr lang="en-IN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Empirical comparison between </a:t>
                      </a:r>
                      <a:r>
                        <a:rPr lang="en-IN" sz="2400" b="0" i="0" u="none" strike="noStrike" cap="none" dirty="0" err="1" smtClean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autoencoders</a:t>
                      </a:r>
                      <a:r>
                        <a:rPr lang="en-IN" sz="24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 and traditional dimensionality reduction methods- IEEE</a:t>
                      </a:r>
                      <a:endParaRPr lang="en-IN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 smtClean="0"/>
                        <a:t>          2019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33064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907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29"/>
          <p:cNvCxnSpPr/>
          <p:nvPr/>
        </p:nvCxnSpPr>
        <p:spPr>
          <a:xfrm rot="10800000" flipH="1">
            <a:off x="4417036" y="2862364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2" name="Google Shape;322;p29"/>
          <p:cNvSpPr/>
          <p:nvPr/>
        </p:nvSpPr>
        <p:spPr>
          <a:xfrm>
            <a:off x="4335037" y="4065484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29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324" name="Google Shape;324;p29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9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9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9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29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417" y="1444118"/>
            <a:ext cx="2369218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/>
          <p:nvPr/>
        </p:nvSpPr>
        <p:spPr>
          <a:xfrm>
            <a:off x="4263561" y="1949847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600"/>
              <a:buFont typeface="Calibri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4335037" y="303304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November 2025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4335037" y="3549286"/>
            <a:ext cx="854306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in AI &amp;ML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1002</Words>
  <Application>Microsoft Office PowerPoint</Application>
  <PresentationFormat>Widescreen</PresentationFormat>
  <Paragraphs>238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Trebuchet MS</vt:lpstr>
      <vt:lpstr>Office Theme</vt:lpstr>
      <vt:lpstr>PowerPoint Presentation</vt:lpstr>
      <vt:lpstr>Submission Checklist </vt:lpstr>
      <vt:lpstr>Problem Statement</vt:lpstr>
      <vt:lpstr>Uniqueness</vt:lpstr>
      <vt:lpstr>Dataset </vt:lpstr>
      <vt:lpstr>Overall Design or Approach</vt:lpstr>
      <vt:lpstr>Final Results</vt:lpstr>
      <vt:lpstr>Features : Done vs. Remaining to be done</vt:lpstr>
      <vt:lpstr>Features : Who did what </vt:lpstr>
      <vt:lpstr>Quantity and Quality of Work </vt:lpstr>
      <vt:lpstr>Top Few Learnings from this Project</vt:lpstr>
      <vt:lpstr>Top Unresolved Challenges</vt:lpstr>
      <vt:lpstr>References, if any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Bhaskar</dc:creator>
  <cp:lastModifiedBy>Microsoft account</cp:lastModifiedBy>
  <cp:revision>72</cp:revision>
  <dcterms:created xsi:type="dcterms:W3CDTF">2024-03-24T13:13:17Z</dcterms:created>
  <dcterms:modified xsi:type="dcterms:W3CDTF">2025-11-18T16:39:25Z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2024-03-24T00:00:00Z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2024-03-24T00:00:00Z</vt:filetime>
  </property>
  <property fmtid="{D5CDD505-2E9C-101B-9397-08002B2CF9AE}" pid="5" name="Producer">
    <vt:lpwstr>Adobe PDF Library 23.8.234</vt:lpwstr>
  </property>
</Properties>
</file>